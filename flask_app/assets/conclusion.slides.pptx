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3"/>
  </p:notesMasterIdLst>
  <p:sldIdLst>
    <p:sldId id="765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ier Descout" initials="OD" lastIdx="1" clrIdx="0">
    <p:extLst>
      <p:ext uri="{19B8F6BF-5375-455C-9EA6-DF929625EA0E}">
        <p15:presenceInfo xmlns:p15="http://schemas.microsoft.com/office/powerpoint/2012/main" userId="5e50569adf2a0a9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AFF"/>
    <a:srgbClr val="282828"/>
    <a:srgbClr val="0023AA"/>
    <a:srgbClr val="1155CC"/>
    <a:srgbClr val="00788C"/>
    <a:srgbClr val="F091B9"/>
    <a:srgbClr val="0823AA"/>
    <a:srgbClr val="DC4B78"/>
    <a:srgbClr val="00004B"/>
    <a:srgbClr val="1E1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83977" autoAdjust="0"/>
  </p:normalViewPr>
  <p:slideViewPr>
    <p:cSldViewPr snapToGrid="0" showGuides="1">
      <p:cViewPr varScale="1">
        <p:scale>
          <a:sx n="94" d="100"/>
          <a:sy n="94" d="100"/>
        </p:scale>
        <p:origin x="287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75" d="100"/>
        <a:sy n="75" d="100"/>
      </p:scale>
      <p:origin x="0" y="-60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27CC-8F40-43A0-A784-1E77C9226FBC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4D65A-1715-468F-B794-3B7668D934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242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ts val="1400"/>
            </a:pPr>
            <a:r>
              <a:rPr lang="fr-FR" sz="1200" b="1" i="0" u="none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Points clés :</a:t>
            </a:r>
          </a:p>
          <a:p>
            <a:pPr marL="171324" marR="0" lvl="0" indent="-17132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Récapituler les principaux messages.</a:t>
            </a:r>
          </a:p>
          <a:p>
            <a:pPr marL="171324" marR="0" lvl="0" indent="-17132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fr-FR" sz="1200" b="0" i="1" u="none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Remercier les participants.</a:t>
            </a:r>
          </a:p>
          <a:p>
            <a:pPr marL="171324" marR="0" lvl="0" indent="-17132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Inviter les participants à donner leur avis sur la conférence.</a:t>
            </a:r>
          </a:p>
          <a:p>
            <a:pPr marL="171324" marR="0" lvl="0" indent="-17132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Inviter les participants à parler des conférences Shifters dans leur entourage et leur propre réseau, et à demander de nouvelles conférences.</a:t>
            </a:r>
            <a:endParaRPr lang="fr-FR" sz="1200"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fr-FR" sz="1200" b="0" i="0" u="none" strike="noStrik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fr-FR" sz="1200" b="1" i="0" u="none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Durée</a:t>
            </a:r>
            <a:r>
              <a:rPr lang="fr-FR" sz="1200" b="0" i="0" u="none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0 min 30</a:t>
            </a:r>
          </a:p>
          <a:p>
            <a:pPr>
              <a:buSzPts val="1400"/>
            </a:pPr>
            <a:endParaRPr lang="fr-FR" sz="1200" b="0" i="0" u="none" strike="noStrik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913725">
              <a:buClr>
                <a:srgbClr val="000000"/>
              </a:buClr>
              <a:buSzPts val="1400"/>
              <a:defRPr/>
            </a:pPr>
            <a:r>
              <a:rPr lang="fr-FR" sz="1200" b="0" i="0" u="none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-----------------------------------------------------------------------------------------------------------------------------------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4D65A-1715-468F-B794-3B7668D934D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71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-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2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San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019DB-F5AE-2462-900E-66339ACD9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2" name="Google Shape;36;p22">
            <a:extLst>
              <a:ext uri="{FF2B5EF4-FFF2-40B4-BE49-F238E27FC236}">
                <a16:creationId xmlns:a16="http://schemas.microsoft.com/office/drawing/2014/main" id="{D71EC3E6-DCDE-B9D4-0646-3FB5F15318A2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288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08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4" name="Google Shape;36;p22">
            <a:extLst>
              <a:ext uri="{FF2B5EF4-FFF2-40B4-BE49-F238E27FC236}">
                <a16:creationId xmlns:a16="http://schemas.microsoft.com/office/drawing/2014/main" id="{00BACEA0-3C40-423C-4B49-AD59E32B05C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202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et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08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899907"/>
            <a:ext cx="10801350" cy="2780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pic>
        <p:nvPicPr>
          <p:cNvPr id="4" name="Google Shape;36;p22">
            <a:extLst>
              <a:ext uri="{FF2B5EF4-FFF2-40B4-BE49-F238E27FC236}">
                <a16:creationId xmlns:a16="http://schemas.microsoft.com/office/drawing/2014/main" id="{92708710-09E6-35DD-8852-628C4B85B885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878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Sans titre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563D0D-FB96-F8D2-0374-CB00FB19A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2" name="Google Shape;36;p22">
            <a:extLst>
              <a:ext uri="{FF2B5EF4-FFF2-40B4-BE49-F238E27FC236}">
                <a16:creationId xmlns:a16="http://schemas.microsoft.com/office/drawing/2014/main" id="{DCFEAA68-E5F2-72E3-2F61-20610D83344A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107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eul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046D-0C7A-3E42-9CBF-720BCFAA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76B11E-98DE-844F-AAD1-F6081385A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Google Shape;36;p22">
            <a:extLst>
              <a:ext uri="{FF2B5EF4-FFF2-40B4-BE49-F238E27FC236}">
                <a16:creationId xmlns:a16="http://schemas.microsoft.com/office/drawing/2014/main" id="{7103DD87-BFF5-F5FF-577F-BC23D97DB875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2368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et sous titre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046D-0C7A-3E42-9CBF-720BCFAA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76B11E-98DE-844F-AAD1-F6081385A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41226857-C6CF-4A8B-AA46-3262E2B366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899907"/>
            <a:ext cx="10801350" cy="2780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pic>
        <p:nvPicPr>
          <p:cNvPr id="3" name="Google Shape;36;p22">
            <a:extLst>
              <a:ext uri="{FF2B5EF4-FFF2-40B4-BE49-F238E27FC236}">
                <a16:creationId xmlns:a16="http://schemas.microsoft.com/office/drawing/2014/main" id="{46D94EAF-93D7-7CD5-900E-40D4385FC04D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2301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Chap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EA68AE-693E-40EF-82F7-98AA6B12CD4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88882101-99DF-4310-A674-74A2697A1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16725" y="728663"/>
            <a:ext cx="4679950" cy="540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fr-FR" sz="3200" b="1" dirty="0" smtClean="0">
                <a:solidFill>
                  <a:schemeClr val="bg1"/>
                </a:solidFill>
              </a:defRPr>
            </a:lvl1pPr>
            <a:lvl2pPr marL="0" indent="0">
              <a:buNone/>
              <a:tabLst>
                <a:tab pos="0" algn="l"/>
                <a:tab pos="92075" algn="l"/>
              </a:tabLst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>
                <a:tab pos="0" algn="l"/>
                <a:tab pos="625475" algn="l"/>
              </a:tabLst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Grand chapitre ici</a:t>
            </a:r>
          </a:p>
          <a:p>
            <a:pPr lvl="1"/>
            <a:r>
              <a:rPr lang="fr-FR" dirty="0"/>
              <a:t>Petit chapitre</a:t>
            </a:r>
          </a:p>
          <a:p>
            <a:pPr lvl="2"/>
            <a:r>
              <a:rPr lang="fr-FR" dirty="0"/>
              <a:t>Texte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3C2B1C16-ED1F-4720-99C1-D3A1065B0D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888512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9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Chapitre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EA68AE-693E-40EF-82F7-98AA6B12CD48}"/>
              </a:ext>
            </a:extLst>
          </p:cNvPr>
          <p:cNvSpPr/>
          <p:nvPr userDrawn="1"/>
        </p:nvSpPr>
        <p:spPr>
          <a:xfrm>
            <a:off x="0" y="0"/>
            <a:ext cx="50202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88882101-99DF-4310-A674-74A2697A1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65693" y="728663"/>
            <a:ext cx="5880848" cy="540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fr-FR" sz="3200" b="1" dirty="0" smtClean="0">
                <a:solidFill>
                  <a:schemeClr val="bg1"/>
                </a:solidFill>
              </a:defRPr>
            </a:lvl1pPr>
            <a:lvl2pPr marL="0" indent="0">
              <a:buNone/>
              <a:tabLst>
                <a:tab pos="0" algn="l"/>
                <a:tab pos="92075" algn="l"/>
              </a:tabLst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>
                <a:tab pos="0" algn="l"/>
                <a:tab pos="625475" algn="l"/>
              </a:tabLst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Grand chapitre ici</a:t>
            </a:r>
          </a:p>
          <a:p>
            <a:pPr lvl="1"/>
            <a:r>
              <a:rPr lang="fr-FR" dirty="0"/>
              <a:t>Petit chapitre</a:t>
            </a:r>
          </a:p>
          <a:p>
            <a:pPr lvl="2"/>
            <a:r>
              <a:rPr lang="fr-FR" dirty="0"/>
              <a:t>Texte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3C2B1C16-ED1F-4720-99C1-D3A1065B0D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020235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662339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9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1">
            <a:extLst>
              <a:ext uri="{FF2B5EF4-FFF2-40B4-BE49-F238E27FC236}">
                <a16:creationId xmlns:a16="http://schemas.microsoft.com/office/drawing/2014/main" id="{69869AEF-CCD8-4223-A62A-B67B78EC08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6" y="728661"/>
            <a:ext cx="6480174" cy="50403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bg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Grand texte</a:t>
            </a:r>
          </a:p>
          <a:p>
            <a:pPr lvl="2"/>
            <a:r>
              <a:rPr lang="fr-FR" dirty="0"/>
              <a:t>Texte</a:t>
            </a:r>
          </a:p>
          <a:p>
            <a:pPr lvl="3"/>
            <a:r>
              <a:rPr lang="fr-FR" dirty="0"/>
              <a:t>Petit texte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911BB7-4B6B-43A7-8550-9458FF4BED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8EAC08D7-4DCF-4915-9482-AF1C7BED7C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 dirty="0"/>
              <a:t>Le Climat, et moi, et moi, et moi…</a:t>
            </a:r>
          </a:p>
        </p:txBody>
      </p:sp>
    </p:spTree>
    <p:extLst>
      <p:ext uri="{BB962C8B-B14F-4D97-AF65-F5344CB8AC3E}">
        <p14:creationId xmlns:p14="http://schemas.microsoft.com/office/powerpoint/2010/main" val="42863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84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3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459">
          <p15:clr>
            <a:srgbClr val="F26B43"/>
          </p15:clr>
        </p15:guide>
        <p15:guide id="3" orient="horz" pos="3861">
          <p15:clr>
            <a:srgbClr val="F26B43"/>
          </p15:clr>
        </p15:guide>
        <p15:guide id="4" pos="72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9B0867-1249-4684-9014-0C0BB1503F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F5920AD0-0208-44B5-A513-BAE2D8710C7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2636" y="359851"/>
            <a:ext cx="10801350" cy="458787"/>
          </a:xfrm>
          <a:prstGeom prst="rect">
            <a:avLst/>
          </a:prstGeom>
        </p:spPr>
        <p:txBody>
          <a:bodyPr lIns="0" tIns="0" rIns="0" bIns="0"/>
          <a:lstStyle/>
          <a:p>
            <a:pPr marL="0" indent="0" algn="ctr">
              <a:buNone/>
            </a:pPr>
            <a:r>
              <a:rPr lang="fr-FR" sz="4000" b="1" dirty="0">
                <a:solidFill>
                  <a:schemeClr val="bg1"/>
                </a:solidFill>
              </a:rPr>
              <a:t>Merci !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BDCEEC9-8AC4-6684-8CE7-46A91910332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1661" y="2380769"/>
            <a:ext cx="3127837" cy="312783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9720561-C312-448A-B5D6-A53BB844C898}"/>
              </a:ext>
            </a:extLst>
          </p:cNvPr>
          <p:cNvSpPr txBox="1"/>
          <p:nvPr/>
        </p:nvSpPr>
        <p:spPr>
          <a:xfrm>
            <a:off x="7822088" y="5757495"/>
            <a:ext cx="4306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accent1"/>
                </a:solidFill>
              </a:rPr>
              <a:t>www.theshifters.org</a:t>
            </a:r>
            <a:endParaRPr lang="en-GB" sz="2400" dirty="0"/>
          </a:p>
        </p:txBody>
      </p:sp>
      <p:sp>
        <p:nvSpPr>
          <p:cNvPr id="15" name="ZoneTexte 7">
            <a:extLst>
              <a:ext uri="{FF2B5EF4-FFF2-40B4-BE49-F238E27FC236}">
                <a16:creationId xmlns:a16="http://schemas.microsoft.com/office/drawing/2014/main" id="{B141EED8-AACA-F242-A560-089EA97E6628}"/>
              </a:ext>
            </a:extLst>
          </p:cNvPr>
          <p:cNvSpPr txBox="1"/>
          <p:nvPr/>
        </p:nvSpPr>
        <p:spPr>
          <a:xfrm>
            <a:off x="480634" y="1208552"/>
            <a:ext cx="3766414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buClrTx/>
              <a:buFontTx/>
              <a:buNone/>
            </a:pPr>
            <a:r>
              <a:rPr lang="fr-FR" sz="2800" kern="1200" dirty="0">
                <a:solidFill>
                  <a:schemeClr val="accent1"/>
                </a:solidFill>
              </a:rPr>
              <a:t>Donnez votre opinion</a:t>
            </a:r>
          </a:p>
          <a:p>
            <a:pPr algn="ctr">
              <a:buClrTx/>
              <a:buFontTx/>
              <a:buNone/>
            </a:pPr>
            <a:r>
              <a:rPr lang="fr-FR" sz="2800" kern="1200" dirty="0">
                <a:solidFill>
                  <a:schemeClr val="accent1"/>
                </a:solidFill>
              </a:rPr>
              <a:t>sur nos conférences </a:t>
            </a:r>
            <a:endParaRPr sz="2800" kern="1200" dirty="0">
              <a:solidFill>
                <a:schemeClr val="accent1"/>
              </a:solidFill>
            </a:endParaRPr>
          </a:p>
        </p:txBody>
      </p:sp>
      <p:sp>
        <p:nvSpPr>
          <p:cNvPr id="17" name="ZoneTexte 7">
            <a:extLst>
              <a:ext uri="{FF2B5EF4-FFF2-40B4-BE49-F238E27FC236}">
                <a16:creationId xmlns:a16="http://schemas.microsoft.com/office/drawing/2014/main" id="{AEFCCEA3-ED9C-D94C-B3C4-EABCB0ED7ABF}"/>
              </a:ext>
            </a:extLst>
          </p:cNvPr>
          <p:cNvSpPr txBox="1"/>
          <p:nvPr/>
        </p:nvSpPr>
        <p:spPr>
          <a:xfrm>
            <a:off x="255125" y="5726718"/>
            <a:ext cx="438094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ctr">
              <a:buClrTx/>
              <a:buFontTx/>
              <a:buNone/>
            </a:pPr>
            <a:r>
              <a:rPr lang="fr-FR" sz="2800" kern="1200" dirty="0">
                <a:solidFill>
                  <a:schemeClr val="accent1"/>
                </a:solidFill>
              </a:rPr>
              <a:t>Votre avis est important !</a:t>
            </a:r>
            <a:endParaRPr sz="2800" kern="1200" dirty="0">
              <a:solidFill>
                <a:schemeClr val="accent1"/>
              </a:solidFill>
            </a:endParaRPr>
          </a:p>
        </p:txBody>
      </p:sp>
      <p:pic>
        <p:nvPicPr>
          <p:cNvPr id="18" name="Graphic 3">
            <a:extLst>
              <a:ext uri="{FF2B5EF4-FFF2-40B4-BE49-F238E27FC236}">
                <a16:creationId xmlns:a16="http://schemas.microsoft.com/office/drawing/2014/main" id="{FAD18C46-B88E-5B43-B12A-0E6A94F14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676" y="2380769"/>
            <a:ext cx="3127837" cy="3127837"/>
          </a:xfrm>
          <a:prstGeom prst="rect">
            <a:avLst/>
          </a:prstGeom>
        </p:spPr>
      </p:pic>
      <p:sp>
        <p:nvSpPr>
          <p:cNvPr id="19" name="ZoneTexte 7">
            <a:extLst>
              <a:ext uri="{FF2B5EF4-FFF2-40B4-BE49-F238E27FC236}">
                <a16:creationId xmlns:a16="http://schemas.microsoft.com/office/drawing/2014/main" id="{DC0B4076-1332-314F-B330-26F1AE76E25F}"/>
              </a:ext>
            </a:extLst>
          </p:cNvPr>
          <p:cNvSpPr txBox="1"/>
          <p:nvPr/>
        </p:nvSpPr>
        <p:spPr>
          <a:xfrm>
            <a:off x="8262289" y="1208552"/>
            <a:ext cx="3426577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ctr">
              <a:buClrTx/>
              <a:buFontTx/>
              <a:buNone/>
            </a:pPr>
            <a:r>
              <a:rPr lang="fr-FR" sz="2800" kern="1200" dirty="0">
                <a:solidFill>
                  <a:schemeClr val="accent1"/>
                </a:solidFill>
              </a:rPr>
              <a:t>Pour en savoir plus</a:t>
            </a:r>
          </a:p>
          <a:p>
            <a:pPr algn="ctr">
              <a:buClrTx/>
              <a:buFontTx/>
              <a:buNone/>
            </a:pPr>
            <a:r>
              <a:rPr lang="fr-FR" sz="2800" kern="1200" dirty="0">
                <a:solidFill>
                  <a:schemeClr val="accent1"/>
                </a:solidFill>
              </a:rPr>
              <a:t>et nous rejoindre</a:t>
            </a:r>
            <a:endParaRPr sz="2800" kern="1200" dirty="0">
              <a:solidFill>
                <a:schemeClr val="accent1"/>
              </a:solidFill>
            </a:endParaRPr>
          </a:p>
        </p:txBody>
      </p:sp>
      <p:sp>
        <p:nvSpPr>
          <p:cNvPr id="7" name="Texte Votre avis est important">
            <a:extLst>
              <a:ext uri="{FF2B5EF4-FFF2-40B4-BE49-F238E27FC236}">
                <a16:creationId xmlns:a16="http://schemas.microsoft.com/office/drawing/2014/main" id="{362BB52A-17BE-43BA-C052-ED5BEF8DE52A}"/>
              </a:ext>
            </a:extLst>
          </p:cNvPr>
          <p:cNvSpPr txBox="1"/>
          <p:nvPr/>
        </p:nvSpPr>
        <p:spPr>
          <a:xfrm>
            <a:off x="4433311" y="2854488"/>
            <a:ext cx="3600000" cy="187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Helvetica"/>
              </a:rPr>
              <a:t>Vous aussi, contribuez à diffuser </a:t>
            </a:r>
            <a:b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Helvetica"/>
              </a:rPr>
            </a:b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Helvetica"/>
              </a:rPr>
              <a:t>encore plus</a:t>
            </a:r>
            <a:b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Helvetica"/>
              </a:rPr>
            </a:b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Helvetica"/>
              </a:rPr>
              <a:t>la connaissance !</a:t>
            </a:r>
          </a:p>
        </p:txBody>
      </p:sp>
    </p:spTree>
    <p:extLst>
      <p:ext uri="{BB962C8B-B14F-4D97-AF65-F5344CB8AC3E}">
        <p14:creationId xmlns:p14="http://schemas.microsoft.com/office/powerpoint/2010/main" val="394333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00">
        <p:fade/>
      </p:transition>
    </mc:Choice>
    <mc:Fallback xmlns="">
      <p:transition spd="med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5" grpId="0"/>
      <p:bldP spid="15" grpId="0" animBg="1"/>
      <p:bldP spid="17" grpId="0" animBg="1"/>
      <p:bldP spid="19" grpId="0" animBg="1"/>
    </p:bldLst>
  </p:timing>
</p:sld>
</file>

<file path=ppt/theme/theme1.xml><?xml version="1.0" encoding="utf-8"?>
<a:theme xmlns:a="http://schemas.openxmlformats.org/drawingml/2006/main" name="Modeles">
  <a:themeElements>
    <a:clrScheme name="Shifters">
      <a:dk1>
        <a:srgbClr val="00004B"/>
      </a:dk1>
      <a:lt1>
        <a:srgbClr val="FFFFFF"/>
      </a:lt1>
      <a:dk2>
        <a:srgbClr val="00004B"/>
      </a:dk2>
      <a:lt2>
        <a:srgbClr val="0023AA"/>
      </a:lt2>
      <a:accent1>
        <a:srgbClr val="4BD2AF"/>
      </a:accent1>
      <a:accent2>
        <a:srgbClr val="00788C"/>
      </a:accent2>
      <a:accent3>
        <a:srgbClr val="2D4182"/>
      </a:accent3>
      <a:accent4>
        <a:srgbClr val="DC4B78"/>
      </a:accent4>
      <a:accent5>
        <a:srgbClr val="F091B9"/>
      </a:accent5>
      <a:accent6>
        <a:srgbClr val="B7ECDE"/>
      </a:accent6>
      <a:hlink>
        <a:srgbClr val="00788C"/>
      </a:hlink>
      <a:folHlink>
        <a:srgbClr val="00788C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91</Words>
  <Application>Microsoft Office PowerPoint</Application>
  <PresentationFormat>Grand écran</PresentationFormat>
  <Paragraphs>18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Modeles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Conférences The Shifters – Le Climat, et moi, et moi, et moi : douze solutions pour réduire mon impact sur le climat</dc:title>
  <dc:creator>Olivier Descout;Jason Saniez;Vincent d'Herbemont;Grégoire Carpentier;Raphaël Perotin;Marine Simoën</dc:creator>
  <cp:lastModifiedBy>Darckoune</cp:lastModifiedBy>
  <cp:revision>546</cp:revision>
  <dcterms:created xsi:type="dcterms:W3CDTF">2021-05-25T14:39:04Z</dcterms:created>
  <dcterms:modified xsi:type="dcterms:W3CDTF">2025-05-18T15:01:27Z</dcterms:modified>
  <cp:category>Changement climatique, comprendre, agir, échelle individuelle</cp:category>
</cp:coreProperties>
</file>